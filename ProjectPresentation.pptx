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87"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897603369"/>
              </p:ext>
            </p:extLst>
          </p:nvPr>
        </p:nvGraphicFramePr>
        <p:xfrm>
          <a:off x="1417320" y="2600315"/>
          <a:ext cx="9276927" cy="2167128"/>
        </p:xfrm>
        <a:graphic>
          <a:graphicData uri="http://schemas.openxmlformats.org/drawingml/2006/table">
            <a:tbl>
              <a:tblPr>
                <a:noFill/>
                <a:tableStyleId>{0AAD8F4D-43EB-41E5-8A38-28AB6DFB1B60}</a:tableStyleId>
              </a:tblPr>
              <a:tblGrid>
                <a:gridCol w="1836801">
                  <a:extLst>
                    <a:ext uri="{9D8B030D-6E8A-4147-A177-3AD203B41FA5}">
                      <a16:colId xmlns:a16="http://schemas.microsoft.com/office/drawing/2014/main" val="20000"/>
                    </a:ext>
                  </a:extLst>
                </a:gridCol>
                <a:gridCol w="2480042">
                  <a:extLst>
                    <a:ext uri="{9D8B030D-6E8A-4147-A177-3AD203B41FA5}">
                      <a16:colId xmlns:a16="http://schemas.microsoft.com/office/drawing/2014/main" val="20002"/>
                    </a:ext>
                  </a:extLst>
                </a:gridCol>
                <a:gridCol w="2480042">
                  <a:extLst>
                    <a:ext uri="{9D8B030D-6E8A-4147-A177-3AD203B41FA5}">
                      <a16:colId xmlns:a16="http://schemas.microsoft.com/office/drawing/2014/main" val="20003"/>
                    </a:ext>
                  </a:extLst>
                </a:gridCol>
                <a:gridCol w="2480042">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 </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    Roshna Geekuri</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    rosh07995@gmail.com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             9000867674</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IN" sz="2400" dirty="0">
                <a:highlight>
                  <a:srgbClr val="FFFF00"/>
                </a:highlight>
              </a:rPr>
              <a:t>Food Technology (</a:t>
            </a:r>
            <a:r>
              <a:rPr lang="en-IN" sz="2400" dirty="0" err="1">
                <a:highlight>
                  <a:srgbClr val="FFFF00"/>
                </a:highlight>
              </a:rPr>
              <a:t>FoodTech</a:t>
            </a:r>
            <a:r>
              <a:rPr lang="en-IN" sz="2400" dirty="0">
                <a:highlight>
                  <a:srgbClr val="FFFF00"/>
                </a:highlight>
              </a:rPr>
              <a:t>)</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Title – </a:t>
            </a:r>
            <a:r>
              <a:rPr lang="en-IN" sz="2400" dirty="0">
                <a:highlight>
                  <a:srgbClr val="FFFF00"/>
                </a:highlight>
              </a:rPr>
              <a:t>Smart Recipe Preparation Agent </a:t>
            </a:r>
            <a:endParaRPr lang="en-IN" sz="2400" b="1" dirty="0">
              <a:highlight>
                <a:srgbClr val="FFFF00"/>
              </a:highlight>
            </a:endParaRPr>
          </a:p>
        </p:txBody>
      </p:sp>
      <p:pic>
        <p:nvPicPr>
          <p:cNvPr id="3" name="Picture 2">
            <a:extLst>
              <a:ext uri="{FF2B5EF4-FFF2-40B4-BE49-F238E27FC236}">
                <a16:creationId xmlns:a16="http://schemas.microsoft.com/office/drawing/2014/main" id="{C883ED95-4FB4-C9C8-86FE-58077FF3ACB7}"/>
              </a:ext>
            </a:extLst>
          </p:cNvPr>
          <p:cNvPicPr>
            <a:picLocks noChangeAspect="1"/>
          </p:cNvPicPr>
          <p:nvPr/>
        </p:nvPicPr>
        <p:blipFill>
          <a:blip r:embed="rId3"/>
          <a:stretch>
            <a:fillRect/>
          </a:stretch>
        </p:blipFill>
        <p:spPr>
          <a:xfrm>
            <a:off x="3909913" y="3538728"/>
            <a:ext cx="1247303" cy="12287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448056" y="859536"/>
            <a:ext cx="10607040" cy="6124754"/>
          </a:xfrm>
          <a:prstGeom prst="rect">
            <a:avLst/>
          </a:prstGeom>
          <a:noFill/>
        </p:spPr>
        <p:txBody>
          <a:bodyPr wrap="square" rtlCol="0">
            <a:spAutoFit/>
          </a:bodyPr>
          <a:lstStyle/>
          <a:p>
            <a:pPr fontAlgn="base"/>
            <a:r>
              <a:rPr lang="en-US" b="1" dirty="0"/>
              <a:t>Problem Statement : </a:t>
            </a:r>
            <a:r>
              <a:rPr lang="en-IN" b="1" dirty="0"/>
              <a:t>Recipe Preparation Agent</a:t>
            </a:r>
          </a:p>
          <a:p>
            <a:pPr fontAlgn="base"/>
            <a:endParaRPr lang="en-US" b="1" dirty="0"/>
          </a:p>
          <a:p>
            <a:pPr fontAlgn="base"/>
            <a:r>
              <a:rPr lang="en-US" b="1" dirty="0"/>
              <a:t>The Challenge</a:t>
            </a:r>
            <a:r>
              <a:rPr lang="en-US" dirty="0"/>
              <a:t> </a:t>
            </a:r>
          </a:p>
          <a:p>
            <a:pPr fontAlgn="base"/>
            <a:r>
              <a:rPr lang="en-US" dirty="0"/>
              <a:t>Many people struggle to decide what to cook using the limited ingredients available at home. Existing recipe sources often require ingredients that users may not have, leading to food waste, extra expenses, and time-consuming meal planning. Users also need guidance on ingredient substitutions, cooking methods, and dietary preferences. Without an intelligent assistant, preparing meals efficiently becomes difficult. The challenge is to develop an AI-powered Recipe Preparation Agent that can recommend suitable recipes, provide cooking instructions, and offer personalized dietary guidance using only the ingredients available to the user.</a:t>
            </a:r>
          </a:p>
          <a:p>
            <a:pPr fontAlgn="base"/>
            <a:endParaRPr lang="en-US" dirty="0"/>
          </a:p>
          <a:p>
            <a:pPr fontAlgn="base"/>
            <a:r>
              <a:rPr lang="en-US" b="1" dirty="0"/>
              <a:t>The Objective</a:t>
            </a:r>
            <a:r>
              <a:rPr lang="en-US" dirty="0"/>
              <a:t> </a:t>
            </a:r>
          </a:p>
          <a:p>
            <a:r>
              <a:rPr lang="en-US" b="1" dirty="0"/>
              <a:t>Recipe Recommendation</a:t>
            </a:r>
            <a:br>
              <a:rPr lang="en-US" dirty="0"/>
            </a:br>
            <a:r>
              <a:rPr lang="en-US" dirty="0"/>
              <a:t>• Recommend suitable recipes using only the ingredients available with the user.</a:t>
            </a:r>
          </a:p>
          <a:p>
            <a:r>
              <a:rPr lang="en-US" b="1" dirty="0"/>
              <a:t>RAG-Based Retrieval</a:t>
            </a:r>
            <a:br>
              <a:rPr lang="en-US" dirty="0"/>
            </a:br>
            <a:r>
              <a:rPr lang="en-US" dirty="0"/>
              <a:t>• Retrieve the most relevant recipes from a recipe knowledge base using a Retrieval-Augmented Generation (RAG) approach.</a:t>
            </a:r>
          </a:p>
          <a:p>
            <a:r>
              <a:rPr lang="en-US" b="1" dirty="0"/>
              <a:t>AI-Powered Recipe Generation</a:t>
            </a:r>
            <a:br>
              <a:rPr lang="en-US" dirty="0"/>
            </a:br>
            <a:r>
              <a:rPr lang="en-US" dirty="0"/>
              <a:t>• Generate personalized recipes and step-by-step cooking instructions using IBM Granite 4h Small.</a:t>
            </a:r>
          </a:p>
          <a:p>
            <a:r>
              <a:rPr lang="en-US" b="1" dirty="0"/>
              <a:t>Ingredient Substitution</a:t>
            </a:r>
            <a:br>
              <a:rPr lang="en-US" dirty="0"/>
            </a:br>
            <a:r>
              <a:rPr lang="en-US" dirty="0"/>
              <a:t>• Suggest alternative ingredients when required ingredients are unavailable.</a:t>
            </a:r>
          </a:p>
          <a:p>
            <a:r>
              <a:rPr lang="en-US" b="1" dirty="0"/>
              <a:t>Cooking Assistance</a:t>
            </a:r>
            <a:br>
              <a:rPr lang="en-US" dirty="0"/>
            </a:br>
            <a:r>
              <a:rPr lang="en-US" dirty="0"/>
              <a:t>• Provide useful cooking tips and preparation guidance for better meal outcomes.</a:t>
            </a:r>
          </a:p>
          <a:p>
            <a:r>
              <a:rPr lang="en-US" b="1" dirty="0"/>
              <a:t>Dietary Guidance</a:t>
            </a:r>
            <a:br>
              <a:rPr lang="en-US" dirty="0"/>
            </a:br>
            <a:r>
              <a:rPr lang="en-US" dirty="0"/>
              <a:t>• Offer dietary recommendations based on user preferences and nutritional requirements.</a:t>
            </a:r>
          </a:p>
          <a:p>
            <a:r>
              <a:rPr lang="en-US" b="1" dirty="0"/>
              <a:t>Food Waste Reduction</a:t>
            </a:r>
            <a:br>
              <a:rPr lang="en-US" dirty="0"/>
            </a:br>
            <a:r>
              <a:rPr lang="en-US" dirty="0"/>
              <a:t>• Maximize the use of available groceries and minimize food wastage.</a:t>
            </a:r>
          </a:p>
          <a:p>
            <a:r>
              <a:rPr lang="en-US" b="1" dirty="0"/>
              <a:t>User-Friendly Experience</a:t>
            </a:r>
            <a:br>
              <a:rPr lang="en-US" dirty="0"/>
            </a:br>
            <a:r>
              <a:rPr lang="en-US" dirty="0"/>
              <a:t>• Deliver a smart and interactive cooking assistant using IBM watsonx.ai, </a:t>
            </a:r>
            <a:r>
              <a:rPr lang="en-US" dirty="0" err="1"/>
              <a:t>LangFlow</a:t>
            </a:r>
            <a:r>
              <a:rPr lang="en-US" dirty="0"/>
              <a:t>, </a:t>
            </a:r>
            <a:r>
              <a:rPr lang="en-US" dirty="0" err="1"/>
              <a:t>Streamlit</a:t>
            </a:r>
            <a:r>
              <a:rPr lang="en-US" dirty="0"/>
              <a:t>, and Python.</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448056" y="265176"/>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5262979"/>
          </a:xfrm>
          <a:prstGeom prst="rect">
            <a:avLst/>
          </a:prstGeom>
          <a:noFill/>
        </p:spPr>
        <p:txBody>
          <a:bodyPr wrap="square" rtlCol="0">
            <a:spAutoFit/>
          </a:bodyPr>
          <a:lstStyle/>
          <a:p>
            <a:pPr fontAlgn="base"/>
            <a:endParaRPr lang="en-US" b="1" dirty="0"/>
          </a:p>
          <a:p>
            <a:r>
              <a:rPr lang="en-IN" b="1" dirty="0"/>
              <a:t>Development Framework</a:t>
            </a:r>
            <a:br>
              <a:rPr lang="en-IN" dirty="0"/>
            </a:br>
            <a:r>
              <a:rPr lang="en-IN" dirty="0"/>
              <a:t>• </a:t>
            </a:r>
            <a:r>
              <a:rPr lang="en-IN" dirty="0" err="1"/>
              <a:t>LangFlow</a:t>
            </a:r>
            <a:endParaRPr lang="en-IN" dirty="0"/>
          </a:p>
          <a:p>
            <a:r>
              <a:rPr lang="en-IN" b="1" dirty="0"/>
              <a:t>AI Platform</a:t>
            </a:r>
            <a:br>
              <a:rPr lang="en-IN" dirty="0"/>
            </a:br>
            <a:r>
              <a:rPr lang="en-IN" dirty="0"/>
              <a:t>• IBM watsonx.ai</a:t>
            </a:r>
          </a:p>
          <a:p>
            <a:r>
              <a:rPr lang="en-IN" b="1" dirty="0"/>
              <a:t>Foundation Model</a:t>
            </a:r>
            <a:br>
              <a:rPr lang="en-IN" dirty="0"/>
            </a:br>
            <a:r>
              <a:rPr lang="en-IN" dirty="0"/>
              <a:t>• IBM Granite 4h Small</a:t>
            </a:r>
          </a:p>
          <a:p>
            <a:r>
              <a:rPr lang="en-IN" b="1" dirty="0"/>
              <a:t>Frontend Interface</a:t>
            </a:r>
            <a:br>
              <a:rPr lang="en-IN" dirty="0"/>
            </a:br>
            <a:r>
              <a:rPr lang="en-IN" dirty="0"/>
              <a:t>• </a:t>
            </a:r>
            <a:r>
              <a:rPr lang="en-IN" dirty="0" err="1"/>
              <a:t>Streamlit</a:t>
            </a:r>
            <a:endParaRPr lang="en-IN" dirty="0"/>
          </a:p>
          <a:p>
            <a:r>
              <a:rPr lang="en-IN" b="1" dirty="0"/>
              <a:t>Programming Language</a:t>
            </a:r>
            <a:br>
              <a:rPr lang="en-IN" dirty="0"/>
            </a:br>
            <a:r>
              <a:rPr lang="en-IN" dirty="0"/>
              <a:t>• Python</a:t>
            </a:r>
          </a:p>
          <a:p>
            <a:r>
              <a:rPr lang="en-IN" b="1" dirty="0"/>
              <a:t>Knowledge Base</a:t>
            </a:r>
            <a:br>
              <a:rPr lang="en-IN" dirty="0"/>
            </a:br>
            <a:r>
              <a:rPr lang="en-IN" dirty="0"/>
              <a:t>• recipes.csv</a:t>
            </a:r>
          </a:p>
          <a:p>
            <a:r>
              <a:rPr lang="en-IN" b="1" dirty="0"/>
              <a:t>RAG Implementation</a:t>
            </a:r>
            <a:br>
              <a:rPr lang="en-IN" dirty="0"/>
            </a:br>
            <a:r>
              <a:rPr lang="en-IN" dirty="0"/>
              <a:t>• CSV-based Recipe Retrieval and Context Augmentation</a:t>
            </a:r>
          </a:p>
          <a:p>
            <a:r>
              <a:rPr lang="en-IN" b="1" dirty="0"/>
              <a:t>Version Control</a:t>
            </a:r>
            <a:br>
              <a:rPr lang="en-IN" dirty="0"/>
            </a:br>
            <a:r>
              <a:rPr lang="en-IN" dirty="0"/>
              <a:t>• GitHub</a:t>
            </a:r>
          </a:p>
          <a:p>
            <a:pPr marL="285750" indent="-285750" fontAlgn="base">
              <a:buFont typeface="Arial" panose="020B0604020202020204" pitchFamily="34" charset="0"/>
              <a:buChar char="•"/>
            </a:pPr>
            <a:endParaRPr lang="en-IN" dirty="0"/>
          </a:p>
          <a:p>
            <a:pPr fontAlgn="base"/>
            <a:r>
              <a:rPr lang="en-IN" dirty="0"/>
              <a:t>I used </a:t>
            </a:r>
            <a:r>
              <a:rPr lang="en-IN" dirty="0" err="1">
                <a:highlight>
                  <a:srgbClr val="FFFF00"/>
                </a:highlight>
              </a:rPr>
              <a:t>LangFlow</a:t>
            </a:r>
            <a:r>
              <a:rPr lang="en-IN" dirty="0">
                <a:highlight>
                  <a:srgbClr val="FFFF00"/>
                </a:highlight>
              </a:rPr>
              <a:t> + IBM watsonx.ai +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US" b="1" dirty="0"/>
              <a:t>Ingredient Collection</a:t>
            </a:r>
          </a:p>
          <a:p>
            <a:r>
              <a:rPr lang="en-US" dirty="0"/>
              <a:t>• The user enters available ingredients through a simple and interactive </a:t>
            </a:r>
            <a:r>
              <a:rPr lang="en-US" dirty="0" err="1"/>
              <a:t>Streamlit</a:t>
            </a:r>
            <a:r>
              <a:rPr lang="en-US" dirty="0"/>
              <a:t>-based interface.</a:t>
            </a:r>
          </a:p>
          <a:p>
            <a:r>
              <a:rPr lang="en-US" b="1" dirty="0"/>
              <a:t>Recipe Knowledge Base</a:t>
            </a:r>
          </a:p>
          <a:p>
            <a:r>
              <a:rPr lang="en-US" dirty="0"/>
              <a:t>• A structured recipe repository (recipes.csv) is used as the knowledge base containing recipe names, ingredients, and cooking information.</a:t>
            </a:r>
          </a:p>
          <a:p>
            <a:r>
              <a:rPr lang="en-US" b="1" dirty="0"/>
              <a:t>Intelligent Recipe Retrieval</a:t>
            </a:r>
          </a:p>
          <a:p>
            <a:r>
              <a:rPr lang="en-US" dirty="0"/>
              <a:t>• The system analyzes the user-provided ingredients and retrieves the most relevant recipes from the knowledge base using a Retrieval-Augmented Generation (RAG) approach.</a:t>
            </a:r>
          </a:p>
          <a:p>
            <a:r>
              <a:rPr lang="en-US" b="1" dirty="0"/>
              <a:t>IBM Granite-Powered Processing</a:t>
            </a:r>
          </a:p>
          <a:p>
            <a:r>
              <a:rPr lang="en-US" dirty="0"/>
              <a:t>• Retrieved recipe information is provided as context to IBM Granite 4h Small through IBM watsonx.ai for intelligent recipe generation.</a:t>
            </a:r>
          </a:p>
          <a:p>
            <a:r>
              <a:rPr lang="en-US" b="1" dirty="0"/>
              <a:t>Personalized Recipe Generation</a:t>
            </a:r>
          </a:p>
          <a:p>
            <a:r>
              <a:rPr lang="en-US" dirty="0"/>
              <a:t>• IBM Granite generates detailed recipe recommendations tailored to the ingredients available with the user.</a:t>
            </a:r>
          </a:p>
          <a:p>
            <a:r>
              <a:rPr lang="en-US" b="1" dirty="0"/>
              <a:t>Smart Cooking Assistance</a:t>
            </a:r>
          </a:p>
          <a:p>
            <a:r>
              <a:rPr lang="en-US" dirty="0"/>
              <a:t>• The system provides step-by-step cooking instructions to help users prepare meals efficiently and accurately.</a:t>
            </a:r>
          </a:p>
          <a:p>
            <a:r>
              <a:rPr lang="en-US" b="1" dirty="0"/>
              <a:t>Ingredient Substitution Support</a:t>
            </a:r>
          </a:p>
          <a:p>
            <a:r>
              <a:rPr lang="en-US" dirty="0"/>
              <a:t>• Alternative ingredient suggestions are generated whenever specific ingredients are unavailable.</a:t>
            </a:r>
          </a:p>
          <a:p>
            <a:r>
              <a:rPr lang="en-US" b="1" dirty="0"/>
              <a:t>Dietary Guidance</a:t>
            </a:r>
          </a:p>
          <a:p>
            <a:r>
              <a:rPr lang="en-US" dirty="0"/>
              <a:t>• Personalized cooking tips and dietary recommendations are provided based on user-selected preferences.</a:t>
            </a:r>
          </a:p>
          <a:p>
            <a:r>
              <a:rPr lang="en-US" b="1" dirty="0"/>
              <a:t>Sustainable Cooking Experience</a:t>
            </a:r>
          </a:p>
          <a:p>
            <a:r>
              <a:rPr lang="en-US" dirty="0"/>
              <a:t>• The solution minimizes food waste, reduces meal planning effort, and promotes smarter and more sustainable cooking practices.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693866"/>
          </a:xfrm>
          <a:prstGeom prst="rect">
            <a:avLst/>
          </a:prstGeom>
          <a:noFill/>
        </p:spPr>
        <p:txBody>
          <a:bodyPr wrap="square" rtlCol="0">
            <a:spAutoFit/>
          </a:bodyPr>
          <a:lstStyle/>
          <a:p>
            <a:endParaRPr lang="en-US" dirty="0"/>
          </a:p>
          <a:p>
            <a:r>
              <a:rPr lang="en-IN" b="1" dirty="0"/>
              <a:t>1) Chat Input</a:t>
            </a:r>
          </a:p>
          <a:p>
            <a:r>
              <a:rPr lang="en-IN" dirty="0"/>
              <a:t>Provides an interface where users enter available ingredients for recipe generation.</a:t>
            </a:r>
          </a:p>
          <a:p>
            <a:endParaRPr lang="en-IN" dirty="0"/>
          </a:p>
          <a:p>
            <a:r>
              <a:rPr lang="en-IN" b="1" dirty="0"/>
              <a:t>2) Prompt Template</a:t>
            </a:r>
          </a:p>
          <a:p>
            <a:r>
              <a:rPr lang="en-IN" dirty="0"/>
              <a:t>Formats the user ingredients into a structured prompt for recipe generation.</a:t>
            </a:r>
          </a:p>
          <a:p>
            <a:endParaRPr lang="en-IN" dirty="0"/>
          </a:p>
          <a:p>
            <a:r>
              <a:rPr lang="en-IN" b="1" dirty="0"/>
              <a:t>3) IBM watsonx.ai Component</a:t>
            </a:r>
          </a:p>
          <a:p>
            <a:r>
              <a:rPr lang="en-IN" dirty="0"/>
              <a:t>Connects </a:t>
            </a:r>
            <a:r>
              <a:rPr lang="en-IN" dirty="0" err="1"/>
              <a:t>LangFlow</a:t>
            </a:r>
            <a:r>
              <a:rPr lang="en-IN" dirty="0"/>
              <a:t> with IBM watsonx.ai and IBM Granite foundation models.</a:t>
            </a:r>
          </a:p>
          <a:p>
            <a:endParaRPr lang="en-IN" dirty="0"/>
          </a:p>
          <a:p>
            <a:r>
              <a:rPr lang="en-IN" b="1" dirty="0"/>
              <a:t>4) IBM Granite 4h Small</a:t>
            </a:r>
          </a:p>
          <a:p>
            <a:r>
              <a:rPr lang="en-IN" dirty="0"/>
              <a:t>Generates recipe recommendations, cooking instructions, substitutions, cooking tips, and dietary guidance.</a:t>
            </a:r>
          </a:p>
          <a:p>
            <a:endParaRPr lang="en-IN" dirty="0"/>
          </a:p>
          <a:p>
            <a:r>
              <a:rPr lang="en-IN" b="1" dirty="0"/>
              <a:t>5) Chat Output</a:t>
            </a:r>
          </a:p>
          <a:p>
            <a:r>
              <a:rPr lang="en-IN" dirty="0"/>
              <a:t>Displays the AI-generated recipe response.</a:t>
            </a:r>
          </a:p>
          <a:p>
            <a:endParaRPr lang="en-IN" dirty="0"/>
          </a:p>
          <a:p>
            <a:r>
              <a:rPr lang="en-IN" b="1" dirty="0"/>
              <a:t>6) </a:t>
            </a:r>
            <a:r>
              <a:rPr lang="en-IN" b="1" dirty="0" err="1"/>
              <a:t>Streamlit</a:t>
            </a:r>
            <a:r>
              <a:rPr lang="en-IN" b="1" dirty="0"/>
              <a:t> Interface</a:t>
            </a:r>
          </a:p>
          <a:p>
            <a:r>
              <a:rPr lang="en-IN" dirty="0"/>
              <a:t>Provides a user-friendly frontend for ingredient input and recipe display.</a:t>
            </a:r>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10158" y="18607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15" name="Picture 14">
            <a:extLst>
              <a:ext uri="{FF2B5EF4-FFF2-40B4-BE49-F238E27FC236}">
                <a16:creationId xmlns:a16="http://schemas.microsoft.com/office/drawing/2014/main" id="{E2125EBB-F9E6-6980-9432-095ED4D7694E}"/>
              </a:ext>
            </a:extLst>
          </p:cNvPr>
          <p:cNvPicPr>
            <a:picLocks noChangeAspect="1"/>
          </p:cNvPicPr>
          <p:nvPr/>
        </p:nvPicPr>
        <p:blipFill>
          <a:blip r:embed="rId3"/>
          <a:stretch>
            <a:fillRect/>
          </a:stretch>
        </p:blipFill>
        <p:spPr>
          <a:xfrm>
            <a:off x="772405" y="740664"/>
            <a:ext cx="10849619" cy="6025896"/>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265556" y="64008"/>
            <a:ext cx="5908929" cy="588867"/>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6" name="Picture 5">
            <a:extLst>
              <a:ext uri="{FF2B5EF4-FFF2-40B4-BE49-F238E27FC236}">
                <a16:creationId xmlns:a16="http://schemas.microsoft.com/office/drawing/2014/main" id="{4A07131D-40C4-C759-B5B9-D3C9A4690D04}"/>
              </a:ext>
            </a:extLst>
          </p:cNvPr>
          <p:cNvPicPr>
            <a:picLocks noChangeAspect="1"/>
          </p:cNvPicPr>
          <p:nvPr/>
        </p:nvPicPr>
        <p:blipFill>
          <a:blip r:embed="rId3"/>
          <a:stretch>
            <a:fillRect/>
          </a:stretch>
        </p:blipFill>
        <p:spPr>
          <a:xfrm>
            <a:off x="841248" y="504744"/>
            <a:ext cx="11173968" cy="619780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182880" y="993757"/>
            <a:ext cx="7927848" cy="4401205"/>
          </a:xfrm>
          <a:prstGeom prst="rect">
            <a:avLst/>
          </a:prstGeom>
          <a:noFill/>
        </p:spPr>
        <p:txBody>
          <a:bodyPr wrap="square" rtlCol="0">
            <a:spAutoFit/>
          </a:bodyPr>
          <a:lstStyle/>
          <a:p>
            <a:r>
              <a:rPr lang="en-US" b="1" dirty="0"/>
              <a:t>Role of Agentic AI in Smart Recipe Agent</a:t>
            </a:r>
          </a:p>
          <a:p>
            <a:r>
              <a:rPr lang="en-US" dirty="0"/>
              <a:t>The Smart Recipe Preparation Agent leverages Agentic AI to function as an intelligent and context-aware cooking assistant that helps users prepare meals using only the ingredients available at home. The system begins by understanding user-provided ingredients and dietary preferences through a simple and interactive interface. It then performs intelligent recipe retrieval from the recipe knowledge base (recipes.csv) by identifying recipes that closely match the available ingredients. This retrieval process ensures that the generated recommendations remain relevant, practical, and aligned with the user’s available resources.</a:t>
            </a:r>
          </a:p>
          <a:p>
            <a:r>
              <a:rPr lang="en-US" dirty="0"/>
              <a:t>The Agentic AI framework enables the system to perform multiple intelligent tasks, including ingredient analysis, recipe retrieval, context preparation, decision-making, response generation, and recommendation delivery. This autonomous workflow allows the solution to provide accurate, useful, and personalized cooking assistance without requiring users to manually search through numerous recipes. The system dynamically adapts its recommendations based on ingredient availability and user preferences, ensuring a better user experience and higher recommendation quality.</a:t>
            </a:r>
          </a:p>
          <a:p>
            <a:r>
              <a:rPr lang="en-US" dirty="0"/>
              <a:t>By combining recipe retrieval, AI-driven reasoning, and generative capabilities, the Smart Recipe Preparation Agent significantly reduces food waste, minimizes meal-planning effort, saves time, and improves cooking convenience. The solution demonstrates the practical application of Agentic AI, RAG, IBM watsonx.ai, and IBM Granite Foundation Models in solving real-world problems while promoting smarter, more efficient, and sustainable cooking practices for everyday users.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232202"/>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managing the AI workflow and integrating IBM Granite models.</a:t>
            </a:r>
          </a:p>
          <a:p>
            <a:endParaRPr lang="en-US" sz="1800" dirty="0"/>
          </a:p>
          <a:p>
            <a:pPr marL="285750" indent="-285750">
              <a:buFont typeface="Arial" panose="020B0604020202020204" pitchFamily="34" charset="0"/>
              <a:buChar char="•"/>
            </a:pPr>
            <a:r>
              <a:rPr lang="en-US" sz="1800" b="1" dirty="0"/>
              <a:t>IBM Granite 4h Small</a:t>
            </a:r>
            <a:r>
              <a:rPr lang="en-US" sz="1800" dirty="0"/>
              <a:t> – Used for recipe generation, cooking instructions, ingredient substitutions, and dietary recommendations.</a:t>
            </a:r>
          </a:p>
          <a:p>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Recipe Agent efficiently. IBM Cloud enables a </a:t>
            </a:r>
            <a:r>
              <a:rPr lang="en-US" sz="1800" b="1" dirty="0"/>
              <a:t>reliable, secure, and scalable environment</a:t>
            </a:r>
            <a:r>
              <a:rPr lang="en-US" sz="1800" dirty="0"/>
              <a:t> for deploying the Recipe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(Retrieval-Augmented Generation)</a:t>
            </a:r>
            <a:r>
              <a:rPr lang="en-US" sz="1800" dirty="0"/>
              <a:t> – Retrieves relevant recipes from the </a:t>
            </a:r>
            <a:r>
              <a:rPr lang="en-US" dirty="0"/>
              <a:t>recipes.csv</a:t>
            </a:r>
            <a:r>
              <a:rPr lang="en-US" sz="1800" dirty="0"/>
              <a:t> knowledge base and provides context for intelligent recipe generation.</a:t>
            </a:r>
          </a:p>
          <a:p>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endParaRPr lang="en-US" sz="1800" dirty="0"/>
          </a:p>
          <a:p>
            <a:pPr marL="285750" indent="-285750">
              <a:buFont typeface="Arial" panose="020B0604020202020204" pitchFamily="34" charset="0"/>
              <a:buChar char="•"/>
            </a:pPr>
            <a:r>
              <a:rPr lang="en-US" sz="1800" b="1" dirty="0"/>
              <a:t>Python</a:t>
            </a:r>
            <a:r>
              <a:rPr lang="en-US" sz="1800" dirty="0"/>
              <a:t> – Used for recipe retrieval logic, ingredient matching, and application development.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246888" y="173736"/>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246888" y="774954"/>
            <a:ext cx="11795760" cy="5909310"/>
          </a:xfrm>
          <a:prstGeom prst="rect">
            <a:avLst/>
          </a:prstGeom>
          <a:noFill/>
        </p:spPr>
        <p:txBody>
          <a:bodyPr wrap="square" rtlCol="0">
            <a:spAutoFit/>
          </a:bodyPr>
          <a:lstStyle/>
          <a:p>
            <a:r>
              <a:rPr lang="en-US" sz="1800" b="1" dirty="0"/>
              <a:t>• RAG-Based Recipe Intelligence</a:t>
            </a:r>
            <a:br>
              <a:rPr lang="en-US" sz="1800" dirty="0"/>
            </a:br>
            <a:r>
              <a:rPr lang="en-US" sz="1800" dirty="0"/>
              <a:t>Retrieves relevant recipes from a recipe knowledge base and combines them with AI-generated responses for more accurate and context-aware recommendations.</a:t>
            </a:r>
          </a:p>
          <a:p>
            <a:r>
              <a:rPr lang="en-US" sz="1800" b="1" dirty="0"/>
              <a:t>• IBM Granite-Powered Personalization</a:t>
            </a:r>
            <a:br>
              <a:rPr lang="en-US" sz="1800" dirty="0"/>
            </a:br>
            <a:r>
              <a:rPr lang="en-US" sz="1800" dirty="0"/>
              <a:t>Utilizes IBM Granite 4h Small to provide personalized cooking instructions, ingredient substitutions, and dietary recommendations.</a:t>
            </a:r>
          </a:p>
          <a:p>
            <a:r>
              <a:rPr lang="en-US" sz="1800" b="1" dirty="0"/>
              <a:t>• Food Waste Reduction Approach</a:t>
            </a:r>
            <a:br>
              <a:rPr lang="en-US" sz="1800" dirty="0"/>
            </a:br>
            <a:r>
              <a:rPr lang="en-US" sz="1800" dirty="0"/>
              <a:t>Promotes sustainable cooking by maximizing the utilization of available pantry ingredients and minimizing ingredient wastage.</a:t>
            </a:r>
          </a:p>
          <a:p>
            <a:r>
              <a:rPr lang="en-US" sz="1800" b="1" dirty="0"/>
              <a:t>• Smart Cooking Assistance</a:t>
            </a:r>
            <a:br>
              <a:rPr lang="en-US" sz="1800" dirty="0"/>
            </a:br>
            <a:r>
              <a:rPr lang="en-US" sz="1800" dirty="0"/>
              <a:t>Acts as an intelligent cooking companion by providing step-by-step guidance, preparation tips, and adaptive recommendations.</a:t>
            </a:r>
          </a:p>
          <a:p>
            <a:r>
              <a:rPr lang="en-US" sz="1800" b="1" dirty="0"/>
              <a:t>• Simple Yet Practical Architecture</a:t>
            </a:r>
            <a:br>
              <a:rPr lang="en-US" sz="1800" dirty="0"/>
            </a:br>
            <a:r>
              <a:rPr lang="en-US" sz="1800" dirty="0"/>
              <a:t>Combines </a:t>
            </a:r>
            <a:r>
              <a:rPr lang="en-US" sz="1800" dirty="0" err="1"/>
              <a:t>Streamlit</a:t>
            </a:r>
            <a:r>
              <a:rPr lang="en-US" sz="1800" dirty="0"/>
              <a:t>, Python, RAG, </a:t>
            </a:r>
            <a:r>
              <a:rPr lang="en-US" sz="1800" dirty="0" err="1"/>
              <a:t>LangFlow</a:t>
            </a:r>
            <a:r>
              <a:rPr lang="en-US" sz="1800" dirty="0"/>
              <a:t>, IBM watsonx.ai, and IBM Granite into a lightweight and deployable real-world solution.</a:t>
            </a:r>
          </a:p>
          <a:p>
            <a:r>
              <a:rPr lang="en-US" sz="1800" b="1" dirty="0"/>
              <a:t>• User-Centric Experience</a:t>
            </a:r>
            <a:br>
              <a:rPr lang="en-US" sz="1800" dirty="0"/>
            </a:br>
            <a:r>
              <a:rPr lang="en-US" sz="1800" dirty="0"/>
              <a:t>Delivers quick, personalized, and easy-to-follow recipe recommendations without requiring extensive cooking knowledge.</a:t>
            </a:r>
          </a:p>
          <a:p>
            <a:r>
              <a:rPr lang="en-US" sz="1800" b="1" dirty="0"/>
              <a:t>• Real-World Impact</a:t>
            </a:r>
            <a:br>
              <a:rPr lang="en-US" sz="1800" dirty="0"/>
            </a:br>
            <a:r>
              <a:rPr lang="en-US" sz="1800" dirty="0"/>
              <a:t>Addresses everyday cooking challenges by saving time, simplifying meal preparation, improving decision-making, and encouraging sustainable food consumption.</a:t>
            </a:r>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b="0" i="0" u="none" strike="noStrike" cap="none" dirty="0">
                <a:solidFill>
                  <a:srgbClr val="000000"/>
                </a:solidFill>
                <a:latin typeface="Times New Roman"/>
                <a:ea typeface="Times New Roman"/>
                <a:cs typeface="Times New Roman"/>
                <a:sym typeface="Times New Roman"/>
              </a:rPr>
              <a:t>Here’s my working GitHub link -  </a:t>
            </a:r>
            <a:r>
              <a:rPr lang="en-IN" sz="1600" dirty="0"/>
              <a:t>https://github.com/rosh-624/Smart-Recipe-Preparation-Agent</a:t>
            </a:r>
            <a:endParaRPr sz="16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551212" y="202677"/>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265176" y="981693"/>
            <a:ext cx="12063984" cy="4277001"/>
          </a:xfrm>
          <a:prstGeom prst="rect">
            <a:avLst/>
          </a:prstGeom>
          <a:noFill/>
          <a:ln>
            <a:noFill/>
          </a:ln>
        </p:spPr>
        <p:txBody>
          <a:bodyPr spcFirstLastPara="1" wrap="square" lIns="0" tIns="0" rIns="0" bIns="0" anchor="t" anchorCtr="0">
            <a:noAutofit/>
          </a:bodyPr>
          <a:lstStyle/>
          <a:p>
            <a:r>
              <a:rPr lang="en-US" sz="2000" b="1" dirty="0"/>
              <a:t>More Recipe Variety</a:t>
            </a:r>
          </a:p>
          <a:p>
            <a:r>
              <a:rPr lang="en-US" sz="2000" dirty="0"/>
              <a:t>• Expand the recipe database to include a wider range of regional, national, and international dishes.</a:t>
            </a:r>
          </a:p>
          <a:p>
            <a:r>
              <a:rPr lang="en-US" sz="2000" b="1" dirty="0"/>
              <a:t>Better Personalized Recommendations</a:t>
            </a:r>
          </a:p>
          <a:p>
            <a:r>
              <a:rPr lang="en-US" sz="2000" dirty="0"/>
              <a:t>• Recommend recipes based on user preferences such as vegetarian, vegan, high-protein, or low-calorie diets.</a:t>
            </a:r>
          </a:p>
          <a:p>
            <a:r>
              <a:rPr lang="en-US" sz="2000" b="1" dirty="0"/>
              <a:t>Smart Nutrition Insights</a:t>
            </a:r>
          </a:p>
          <a:p>
            <a:r>
              <a:rPr lang="en-US" sz="2000" dirty="0"/>
              <a:t>• Provide nutritional information and calorie estimates for each generated recipe.</a:t>
            </a:r>
          </a:p>
          <a:p>
            <a:r>
              <a:rPr lang="en-US" sz="2000" b="1" dirty="0"/>
              <a:t>Improved Recipe Search</a:t>
            </a:r>
          </a:p>
          <a:p>
            <a:r>
              <a:rPr lang="en-US" sz="2000" dirty="0"/>
              <a:t>• Implement advanced RAG techniques to retrieve more accurate and relevant recipes from larger knowledge bases.</a:t>
            </a:r>
          </a:p>
          <a:p>
            <a:r>
              <a:rPr lang="en-US" sz="2000" b="1" dirty="0"/>
              <a:t>Multi-Language Support</a:t>
            </a:r>
          </a:p>
          <a:p>
            <a:r>
              <a:rPr lang="en-US" sz="2000" dirty="0"/>
              <a:t>• Support multiple languages to make the application accessible to a broader audience.</a:t>
            </a:r>
          </a:p>
          <a:p>
            <a:r>
              <a:rPr lang="en-US" sz="2000" b="1" dirty="0"/>
              <a:t>Mobile Application</a:t>
            </a:r>
          </a:p>
          <a:p>
            <a:r>
              <a:rPr lang="en-US" sz="2000" dirty="0"/>
              <a:t>• Develop a mobile-friendly version of the solution for easier access and improved user experience.</a:t>
            </a:r>
          </a:p>
          <a:p>
            <a:r>
              <a:rPr lang="en-US" sz="2000" b="1" dirty="0"/>
              <a:t>Enhanced Ingredient Suggestions</a:t>
            </a:r>
          </a:p>
          <a:p>
            <a:r>
              <a:rPr lang="en-US" sz="2000" dirty="0"/>
              <a:t>• Provide smarter ingredient substitution recommendations based on availability and dietary restrictions.</a:t>
            </a:r>
          </a:p>
          <a:p>
            <a:r>
              <a:rPr lang="en-US" sz="2000" b="1" dirty="0"/>
              <a:t>Sustainable Cooking Assistance</a:t>
            </a:r>
          </a:p>
          <a:p>
            <a:r>
              <a:rPr lang="en-US" sz="2000" dirty="0"/>
              <a:t>• Further reduce food waste by recommending recipes that maximize the use of available ingredients.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8B2C1D3-296F-9AF1-A9D2-9A8D385F6667}"/>
              </a:ext>
            </a:extLst>
          </p:cNvPr>
          <p:cNvPicPr>
            <a:picLocks noChangeAspect="1"/>
          </p:cNvPicPr>
          <p:nvPr/>
        </p:nvPicPr>
        <p:blipFill>
          <a:blip r:embed="rId2"/>
          <a:stretch>
            <a:fillRect/>
          </a:stretch>
        </p:blipFill>
        <p:spPr>
          <a:xfrm>
            <a:off x="36576" y="137160"/>
            <a:ext cx="12155424" cy="6428232"/>
          </a:xfrm>
          <a:prstGeom prst="rect">
            <a:avLst/>
          </a:prstGeom>
        </p:spPr>
      </p:pic>
    </p:spTree>
    <p:extLst>
      <p:ext uri="{BB962C8B-B14F-4D97-AF65-F5344CB8AC3E}">
        <p14:creationId xmlns:p14="http://schemas.microsoft.com/office/powerpoint/2010/main" val="37233469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2843</TotalTime>
  <Words>1423</Words>
  <Application>Microsoft Office PowerPoint</Application>
  <PresentationFormat>Widescreen</PresentationFormat>
  <Paragraphs>143</Paragraphs>
  <Slides>15</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Roshna Geekuri</cp:lastModifiedBy>
  <cp:revision>25</cp:revision>
  <dcterms:created xsi:type="dcterms:W3CDTF">2025-07-08T05:06:56Z</dcterms:created>
  <dcterms:modified xsi:type="dcterms:W3CDTF">2026-06-05T05:35:02Z</dcterms:modified>
</cp:coreProperties>
</file>